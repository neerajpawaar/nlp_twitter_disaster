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8"/>
  </p:notesMasterIdLst>
  <p:sldIdLst>
    <p:sldId id="256" r:id="rId2"/>
    <p:sldId id="273" r:id="rId3"/>
    <p:sldId id="257" r:id="rId4"/>
    <p:sldId id="261" r:id="rId5"/>
    <p:sldId id="259" r:id="rId6"/>
    <p:sldId id="258" r:id="rId7"/>
    <p:sldId id="264" r:id="rId8"/>
    <p:sldId id="265" r:id="rId9"/>
    <p:sldId id="276" r:id="rId10"/>
    <p:sldId id="275" r:id="rId11"/>
    <p:sldId id="279" r:id="rId12"/>
    <p:sldId id="280" r:id="rId13"/>
    <p:sldId id="281" r:id="rId14"/>
    <p:sldId id="277" r:id="rId15"/>
    <p:sldId id="278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Default Section" id="{2B20FCEC-37A6-4471-8B13-E5693A8A8DDF}">
          <p14:sldIdLst>
            <p14:sldId id="256"/>
            <p14:sldId id="273"/>
            <p14:sldId id="257"/>
            <p14:sldId id="258"/>
            <p14:sldId id="259"/>
            <p14:sldId id="261"/>
          </p14:sldIdLst>
        </p14:section>
        <p14:section name="Untitled Section" id="{94F8E225-B005-44D7-94A4-EB726C7FB0E3}">
          <p14:sldIdLst>
            <p14:sldId id="264"/>
            <p14:sldId id="265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72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 snapToGrid="0">
      <p:cViewPr>
        <p:scale>
          <a:sx n="50" d="100"/>
          <a:sy n="50" d="100"/>
        </p:scale>
        <p:origin x="-1476" y="-5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214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F2E27-08F9-4959-AEBA-FC9AC08BB363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EF27E-867B-44CD-9276-D76914D09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38413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EF27E-867B-44CD-9276-D76914D0957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85622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214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9824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99655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955928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8066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23311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1033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97699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2081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5278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767836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858433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667169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62304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348465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106725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9143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FC1DD26-F3FE-48FD-8134-A8D55E035C04}" type="datetimeFigureOut">
              <a:rPr lang="en-IN" smtClean="0"/>
              <a:pPr/>
              <a:t>18-03-2026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9819B95-5F87-4F0D-8E95-DA894A3D56B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6343561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D573022-4D9A-4229-890E-FC2A25C29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290" y="4811661"/>
            <a:ext cx="3775587" cy="1194620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Name:</a:t>
            </a:r>
            <a:r>
              <a:rPr lang="en-US" b="1" dirty="0">
                <a:solidFill>
                  <a:srgbClr val="FFFFFF"/>
                </a:solidFill>
              </a:rPr>
              <a:t> Neeraj Pawar</a:t>
            </a:r>
          </a:p>
          <a:p>
            <a:pPr algn="ctr"/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FDB24B9D-A0EF-4C05-8DD3-F6C0A230176E}"/>
              </a:ext>
            </a:extLst>
          </p:cNvPr>
          <p:cNvSpPr txBox="1">
            <a:spLocks/>
          </p:cNvSpPr>
          <p:nvPr/>
        </p:nvSpPr>
        <p:spPr>
          <a:xfrm>
            <a:off x="530942" y="1256945"/>
            <a:ext cx="12192000" cy="144501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FFFF"/>
                </a:solidFill>
                <a:latin typeface="CMBX12"/>
              </a:rPr>
              <a:t>      </a:t>
            </a:r>
            <a:endParaRPr lang="en-US" sz="3200" b="1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CMBX1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386C960-717B-E080-2F4B-203603AB7D01}"/>
              </a:ext>
            </a:extLst>
          </p:cNvPr>
          <p:cNvSpPr/>
          <p:nvPr/>
        </p:nvSpPr>
        <p:spPr>
          <a:xfrm>
            <a:off x="0" y="627683"/>
            <a:ext cx="1219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alisto MT"/>
              </a:rPr>
              <a:t>Next Hikes IT Solutions</a:t>
            </a:r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00FAE77-5F61-18CB-D905-F72713535005}"/>
              </a:ext>
            </a:extLst>
          </p:cNvPr>
          <p:cNvSpPr txBox="1"/>
          <p:nvPr/>
        </p:nvSpPr>
        <p:spPr>
          <a:xfrm>
            <a:off x="0" y="5606915"/>
            <a:ext cx="12191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latin typeface="CMBX12"/>
              </a:rPr>
              <a:t>Project Duration</a:t>
            </a:r>
            <a:r>
              <a:rPr lang="en-US" sz="1800" i="0" dirty="0">
                <a:latin typeface="CMBX12"/>
              </a:rPr>
              <a:t>: </a:t>
            </a:r>
            <a:r>
              <a:rPr lang="en-US" dirty="0">
                <a:latin typeface="CMBX12"/>
              </a:rPr>
              <a:t> 20</a:t>
            </a:r>
            <a:r>
              <a:rPr lang="en-US" baseline="30000" dirty="0">
                <a:latin typeface="CMBX12"/>
              </a:rPr>
              <a:t>th</a:t>
            </a:r>
            <a:r>
              <a:rPr lang="en-US" dirty="0">
                <a:latin typeface="CMBX12"/>
              </a:rPr>
              <a:t> </a:t>
            </a:r>
            <a:r>
              <a:rPr lang="en-US" dirty="0" smtClean="0">
                <a:latin typeface="CMBX12"/>
              </a:rPr>
              <a:t>MARCH</a:t>
            </a:r>
            <a:r>
              <a:rPr lang="en-US" dirty="0" smtClean="0">
                <a:latin typeface="CMBX12"/>
              </a:rPr>
              <a:t>,</a:t>
            </a:r>
            <a:r>
              <a:rPr lang="en-US" sz="1800" i="0" dirty="0" smtClean="0">
                <a:latin typeface="CMBX12"/>
              </a:rPr>
              <a:t> 2026</a:t>
            </a:r>
            <a:endParaRPr lang="en-US" sz="1800" i="0" dirty="0">
              <a:latin typeface="CMBX12"/>
            </a:endParaRPr>
          </a:p>
          <a:p>
            <a:pPr algn="ctr"/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F940929-6B3D-C141-C739-EB94B592CBA0}"/>
              </a:ext>
            </a:extLst>
          </p:cNvPr>
          <p:cNvSpPr txBox="1"/>
          <p:nvPr/>
        </p:nvSpPr>
        <p:spPr>
          <a:xfrm>
            <a:off x="876300" y="2249970"/>
            <a:ext cx="10115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 smtClean="0"/>
              <a:t>🚨 Disaster Tweet Classification</a:t>
            </a:r>
            <a:endParaRPr lang="en-US" sz="5400" b="1" dirty="0">
              <a:solidFill>
                <a:srgbClr val="FFFFFF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FDB24B9D-A0EF-4C05-8DD3-F6C0A230176E}"/>
              </a:ext>
            </a:extLst>
          </p:cNvPr>
          <p:cNvSpPr txBox="1">
            <a:spLocks/>
          </p:cNvSpPr>
          <p:nvPr/>
        </p:nvSpPr>
        <p:spPr>
          <a:xfrm>
            <a:off x="2190750" y="3219449"/>
            <a:ext cx="7505700" cy="1120805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FFFF"/>
                </a:solidFill>
                <a:latin typeface="CMBX12"/>
              </a:rPr>
              <a:t>      </a:t>
            </a:r>
            <a:endParaRPr lang="en-US" sz="3200" b="1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CMBX1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F940929-6B3D-C141-C739-EB94B592CBA0}"/>
              </a:ext>
            </a:extLst>
          </p:cNvPr>
          <p:cNvSpPr txBox="1"/>
          <p:nvPr/>
        </p:nvSpPr>
        <p:spPr>
          <a:xfrm>
            <a:off x="2117007" y="3240570"/>
            <a:ext cx="7769943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3200" dirty="0" smtClean="0"/>
              <a:t>A Machine Learning Web App using </a:t>
            </a:r>
            <a:r>
              <a:rPr lang="en-US" sz="3200" dirty="0" err="1" smtClean="0"/>
              <a:t>Streamlit</a:t>
            </a:r>
            <a:endParaRPr lang="en-US" sz="3200" dirty="0" smtClean="0"/>
          </a:p>
          <a:p>
            <a:pPr algn="ctr"/>
            <a:r>
              <a:rPr lang="en-US" sz="3200" dirty="0" smtClean="0"/>
              <a:t>Classifies tweets into Disaster / Non-Disaster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660483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8328C-AA25-4C05-BE58-8E90D8144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632285"/>
            <a:ext cx="10515600" cy="891715"/>
          </a:xfrm>
        </p:spPr>
        <p:txBody>
          <a:bodyPr>
            <a:noAutofit/>
          </a:bodyPr>
          <a:lstStyle/>
          <a:p>
            <a:r>
              <a:rPr lang="fr-FR" sz="4800" b="1" dirty="0" smtClean="0"/>
              <a:t>INTRODUCTION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D6FB83-10E0-4E24-8AF3-AD2F9BEDD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200" y="1790701"/>
            <a:ext cx="10233800" cy="443865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200" dirty="0" smtClean="0"/>
              <a:t>   </a:t>
            </a:r>
            <a:r>
              <a:rPr lang="en-US" sz="3200" dirty="0" smtClean="0"/>
              <a:t>Social </a:t>
            </a:r>
            <a:r>
              <a:rPr lang="en-US" sz="3200" dirty="0" smtClean="0"/>
              <a:t>media provides </a:t>
            </a:r>
            <a:r>
              <a:rPr lang="en-US" sz="3200" b="1" dirty="0" smtClean="0"/>
              <a:t>real-time </a:t>
            </a:r>
            <a:r>
              <a:rPr lang="en-US" sz="3200" b="1" dirty="0" smtClean="0"/>
              <a:t>information</a:t>
            </a:r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  People </a:t>
            </a:r>
            <a:r>
              <a:rPr lang="en-US" sz="3200" dirty="0" smtClean="0"/>
              <a:t>share updates during </a:t>
            </a:r>
            <a:r>
              <a:rPr lang="en-US" sz="3200" dirty="0" smtClean="0"/>
              <a:t>disasters</a:t>
            </a:r>
            <a:endParaRPr lang="en-US" sz="3200" dirty="0" smtClean="0"/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  Many </a:t>
            </a:r>
            <a:r>
              <a:rPr lang="en-US" sz="3200" dirty="0" smtClean="0"/>
              <a:t>tweets are </a:t>
            </a:r>
            <a:r>
              <a:rPr lang="en-US" sz="3200" b="1" dirty="0" smtClean="0"/>
              <a:t>irrelevant or </a:t>
            </a:r>
            <a:r>
              <a:rPr lang="en-US" sz="3200" b="1" dirty="0" smtClean="0"/>
              <a:t>misleading</a:t>
            </a:r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  Difficult </a:t>
            </a:r>
            <a:r>
              <a:rPr lang="en-US" sz="3200" dirty="0" smtClean="0"/>
              <a:t>to identify useful information</a:t>
            </a:r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  This </a:t>
            </a:r>
            <a:r>
              <a:rPr lang="en-US" sz="3200" dirty="0" smtClean="0"/>
              <a:t>project uses </a:t>
            </a:r>
            <a:r>
              <a:rPr lang="en-US" sz="3200" b="1" dirty="0" smtClean="0"/>
              <a:t>ML &amp; NLP</a:t>
            </a:r>
            <a:r>
              <a:rPr lang="en-US" sz="3200" dirty="0" smtClean="0"/>
              <a:t> to classify </a:t>
            </a:r>
            <a:r>
              <a:rPr lang="en-US" sz="3200" dirty="0" smtClean="0"/>
              <a:t>tweets</a:t>
            </a:r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  Output</a:t>
            </a:r>
            <a:r>
              <a:rPr lang="en-US" sz="3200" dirty="0" smtClean="0"/>
              <a:t>:</a:t>
            </a:r>
            <a:br>
              <a:rPr lang="en-US" sz="3200" dirty="0" smtClean="0"/>
            </a:br>
            <a:r>
              <a:rPr lang="en-US" sz="3200" dirty="0" smtClean="0"/>
              <a:t>  </a:t>
            </a:r>
            <a:r>
              <a:rPr lang="en-US" sz="3200" dirty="0" smtClean="0"/>
              <a:t>  </a:t>
            </a:r>
            <a:r>
              <a:rPr lang="en-US" sz="3200" dirty="0" smtClean="0"/>
              <a:t> </a:t>
            </a:r>
            <a:r>
              <a:rPr lang="en-US" sz="3200" dirty="0" smtClean="0"/>
              <a:t>• Disaster </a:t>
            </a:r>
            <a:r>
              <a:rPr lang="en-US" sz="3200" dirty="0" smtClean="0"/>
              <a:t>Tweet</a:t>
            </a:r>
            <a:br>
              <a:rPr lang="en-US" sz="3200" dirty="0" smtClean="0"/>
            </a:br>
            <a:r>
              <a:rPr lang="en-US" sz="3200" dirty="0" smtClean="0"/>
              <a:t>  </a:t>
            </a:r>
            <a:r>
              <a:rPr lang="en-US" sz="3200" dirty="0" smtClean="0"/>
              <a:t>  </a:t>
            </a:r>
            <a:r>
              <a:rPr lang="en-US" sz="3200" dirty="0" smtClean="0"/>
              <a:t> </a:t>
            </a:r>
            <a:r>
              <a:rPr lang="en-US" sz="3200" dirty="0" smtClean="0"/>
              <a:t>• Non-Disaster </a:t>
            </a:r>
            <a:r>
              <a:rPr lang="en-US" sz="3200" dirty="0" smtClean="0"/>
              <a:t>Tweet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1194532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552D54-0825-41F4-B060-1CAC5B1A6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930481"/>
            <a:ext cx="10530700" cy="993570"/>
          </a:xfrm>
        </p:spPr>
        <p:txBody>
          <a:bodyPr numCol="1" anchor="ctr">
            <a:normAutofit/>
          </a:bodyPr>
          <a:lstStyle/>
          <a:p>
            <a:r>
              <a:rPr lang="en-US" sz="4800" b="1" dirty="0" smtClean="0"/>
              <a:t>PROBLEM STATEMENT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7E8FFE-7E65-41A1-B748-FC3927222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105" y="2147631"/>
            <a:ext cx="9046945" cy="3491169"/>
          </a:xfrm>
        </p:spPr>
        <p:txBody>
          <a:bodyPr numCol="1" anchor="ctr">
            <a:noAutofit/>
          </a:bodyPr>
          <a:lstStyle/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600" dirty="0" smtClean="0"/>
              <a:t>Huge </a:t>
            </a:r>
            <a:r>
              <a:rPr lang="en-US" sz="3600" dirty="0" smtClean="0"/>
              <a:t>amount of data on social </a:t>
            </a:r>
            <a:r>
              <a:rPr lang="en-US" sz="3600" dirty="0" smtClean="0"/>
              <a:t>media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600" dirty="0" smtClean="0"/>
              <a:t>Hard </a:t>
            </a:r>
            <a:r>
              <a:rPr lang="en-US" sz="3600" dirty="0" smtClean="0"/>
              <a:t>to manually filter </a:t>
            </a:r>
            <a:r>
              <a:rPr lang="en-US" sz="3600" dirty="0" smtClean="0"/>
              <a:t>disaster-related tweets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600" dirty="0" smtClean="0"/>
              <a:t>Delay </a:t>
            </a:r>
            <a:r>
              <a:rPr lang="en-US" sz="3600" dirty="0" smtClean="0"/>
              <a:t>in identifying critical </a:t>
            </a:r>
            <a:r>
              <a:rPr lang="en-US" sz="3600" dirty="0" smtClean="0"/>
              <a:t>information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600" dirty="0" smtClean="0"/>
              <a:t>Need </a:t>
            </a:r>
            <a:r>
              <a:rPr lang="en-US" sz="3600" dirty="0" smtClean="0"/>
              <a:t>for </a:t>
            </a:r>
            <a:r>
              <a:rPr lang="en-US" sz="3600" b="1" dirty="0" smtClean="0"/>
              <a:t>automatic classification system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xmlns="" val="2808690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A4B5DC-9767-4B87-BC33-D408C9A81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4057"/>
            <a:ext cx="10515600" cy="1032623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OBJECTIVES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6FA50E-3BCC-4D43-BEED-4876B9072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4850" y="1708622"/>
            <a:ext cx="10031800" cy="463502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  Classify </a:t>
            </a:r>
            <a:r>
              <a:rPr lang="en-US" sz="3200" dirty="0" smtClean="0"/>
              <a:t>tweets </a:t>
            </a:r>
            <a:r>
              <a:rPr lang="en-US" sz="3200" dirty="0" smtClean="0"/>
              <a:t>automatically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  Apply </a:t>
            </a:r>
            <a:r>
              <a:rPr lang="en-US" sz="3200" b="1" dirty="0" smtClean="0"/>
              <a:t>NLP </a:t>
            </a:r>
            <a:r>
              <a:rPr lang="en-US" sz="3200" b="1" dirty="0" smtClean="0"/>
              <a:t>techniques</a:t>
            </a:r>
            <a:endParaRPr lang="en-US" sz="3200" dirty="0" smtClean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  Use </a:t>
            </a:r>
            <a:r>
              <a:rPr lang="en-US" sz="3200" b="1" dirty="0" smtClean="0"/>
              <a:t>TF-IDF </a:t>
            </a:r>
            <a:r>
              <a:rPr lang="en-US" sz="3200" b="1" dirty="0" err="1" smtClean="0"/>
              <a:t>vectorization</a:t>
            </a:r>
            <a:endParaRPr lang="en-US" sz="3200" dirty="0" smtClean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  Build </a:t>
            </a:r>
            <a:r>
              <a:rPr lang="en-US" sz="3200" dirty="0" smtClean="0"/>
              <a:t>ML model for </a:t>
            </a:r>
            <a:r>
              <a:rPr lang="en-US" sz="3200" dirty="0" smtClean="0"/>
              <a:t>prediction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  Provide </a:t>
            </a:r>
            <a:r>
              <a:rPr lang="en-US" sz="3200" dirty="0" smtClean="0"/>
              <a:t>fast &amp; accurate </a:t>
            </a:r>
            <a:r>
              <a:rPr lang="en-US" sz="3200" dirty="0" smtClean="0"/>
              <a:t>results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  Create </a:t>
            </a:r>
            <a:r>
              <a:rPr lang="en-US" sz="3200" dirty="0" smtClean="0"/>
              <a:t>user-friendly interface</a:t>
            </a: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2255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423859-0B3C-41F6-8BD2-498BB24CB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594" y="506155"/>
            <a:ext cx="10515600" cy="1009651"/>
          </a:xfrm>
        </p:spPr>
        <p:txBody>
          <a:bodyPr/>
          <a:lstStyle/>
          <a:p>
            <a:r>
              <a:rPr lang="en-US" b="1" dirty="0" smtClean="0"/>
              <a:t>Technologies Used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12AA18-B6DA-4308-9F70-519330DBB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66" y="1829706"/>
            <a:ext cx="10893353" cy="383086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dirty="0" smtClean="0"/>
              <a:t> </a:t>
            </a:r>
            <a:r>
              <a:rPr lang="en-US" sz="3600" dirty="0" smtClean="0"/>
              <a:t>Python</a:t>
            </a:r>
          </a:p>
          <a:p>
            <a:pPr>
              <a:lnSpc>
                <a:spcPct val="100000"/>
              </a:lnSpc>
            </a:pPr>
            <a:r>
              <a:rPr lang="en-US" sz="3600" dirty="0" smtClean="0"/>
              <a:t> </a:t>
            </a:r>
            <a:r>
              <a:rPr lang="en-US" sz="3600" dirty="0" err="1" smtClean="0"/>
              <a:t>Streamlit</a:t>
            </a:r>
            <a:endParaRPr lang="en-US" sz="3600" dirty="0" smtClean="0"/>
          </a:p>
          <a:p>
            <a:pPr>
              <a:lnSpc>
                <a:spcPct val="100000"/>
              </a:lnSpc>
            </a:pPr>
            <a:r>
              <a:rPr lang="en-US" sz="3600" dirty="0" smtClean="0"/>
              <a:t> </a:t>
            </a:r>
            <a:r>
              <a:rPr lang="en-US" sz="3600" dirty="0" err="1" smtClean="0"/>
              <a:t>Scikit</a:t>
            </a:r>
            <a:r>
              <a:rPr lang="en-US" sz="3600" dirty="0" smtClean="0"/>
              <a:t>-learn</a:t>
            </a:r>
          </a:p>
          <a:p>
            <a:pPr>
              <a:lnSpc>
                <a:spcPct val="100000"/>
              </a:lnSpc>
            </a:pPr>
            <a:r>
              <a:rPr lang="en-US" sz="3600" dirty="0" smtClean="0"/>
              <a:t> </a:t>
            </a:r>
            <a:r>
              <a:rPr lang="en-US" sz="3600" dirty="0" smtClean="0"/>
              <a:t>Pickle</a:t>
            </a:r>
          </a:p>
          <a:p>
            <a:pPr>
              <a:lnSpc>
                <a:spcPct val="100000"/>
              </a:lnSpc>
            </a:pPr>
            <a:r>
              <a:rPr lang="en-US" sz="3600" dirty="0" smtClean="0"/>
              <a:t> </a:t>
            </a:r>
            <a:r>
              <a:rPr lang="en-US" sz="3600" dirty="0" smtClean="0"/>
              <a:t>NLP (Text Processing)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xmlns="" val="3994837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2044F4-2568-473B-AE37-2AA40686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000" y="291383"/>
            <a:ext cx="10515600" cy="1325563"/>
          </a:xfrm>
        </p:spPr>
        <p:txBody>
          <a:bodyPr/>
          <a:lstStyle/>
          <a:p>
            <a:pPr lvl="0"/>
            <a:r>
              <a:rPr lang="en-US" b="1" dirty="0" smtClean="0"/>
              <a:t>Application Flowchart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F6CE-A9F4-435B-ADD9-F871A950D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900" y="1547556"/>
            <a:ext cx="10233800" cy="466274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dirty="0" smtClean="0"/>
              <a:t> User </a:t>
            </a:r>
            <a:r>
              <a:rPr lang="en-US" sz="3600" dirty="0" smtClean="0"/>
              <a:t>Input Tweet             </a:t>
            </a:r>
            <a:endParaRPr lang="en-US" sz="3600" dirty="0" smtClean="0"/>
          </a:p>
          <a:p>
            <a:pPr>
              <a:lnSpc>
                <a:spcPct val="150000"/>
              </a:lnSpc>
            </a:pPr>
            <a:r>
              <a:rPr lang="en-US" sz="3600" dirty="0" smtClean="0"/>
              <a:t> Text </a:t>
            </a:r>
            <a:r>
              <a:rPr lang="en-US" sz="3600" dirty="0" smtClean="0"/>
              <a:t>Cleaning         </a:t>
            </a:r>
            <a:endParaRPr lang="en-US" sz="3600" dirty="0" smtClean="0"/>
          </a:p>
          <a:p>
            <a:pPr>
              <a:lnSpc>
                <a:spcPct val="150000"/>
              </a:lnSpc>
            </a:pPr>
            <a:r>
              <a:rPr lang="en-US" sz="3600" dirty="0" smtClean="0"/>
              <a:t> </a:t>
            </a:r>
            <a:r>
              <a:rPr lang="en-US" sz="3600" dirty="0" smtClean="0"/>
              <a:t>TF-IDF </a:t>
            </a:r>
            <a:r>
              <a:rPr lang="en-US" sz="3600" dirty="0" err="1" smtClean="0"/>
              <a:t>Vectorization</a:t>
            </a:r>
            <a:r>
              <a:rPr lang="en-US" sz="3600" dirty="0" smtClean="0"/>
              <a:t>            </a:t>
            </a:r>
          </a:p>
          <a:p>
            <a:pPr>
              <a:lnSpc>
                <a:spcPct val="150000"/>
              </a:lnSpc>
            </a:pPr>
            <a:r>
              <a:rPr lang="en-US" sz="3600" dirty="0" smtClean="0"/>
              <a:t> Model </a:t>
            </a:r>
            <a:r>
              <a:rPr lang="en-US" sz="3600" dirty="0" smtClean="0"/>
              <a:t>Prediction         </a:t>
            </a:r>
            <a:endParaRPr lang="en-US" sz="3600" dirty="0" smtClean="0"/>
          </a:p>
          <a:p>
            <a:pPr>
              <a:lnSpc>
                <a:spcPct val="150000"/>
              </a:lnSpc>
            </a:pPr>
            <a:r>
              <a:rPr lang="en-US" sz="3600" dirty="0" smtClean="0"/>
              <a:t> Display </a:t>
            </a:r>
            <a:r>
              <a:rPr lang="en-US" sz="3600" dirty="0" smtClean="0"/>
              <a:t>Result</a:t>
            </a:r>
            <a:endParaRPr lang="en-US" sz="3600" dirty="0"/>
          </a:p>
        </p:txBody>
      </p:sp>
      <p:sp>
        <p:nvSpPr>
          <p:cNvPr id="4" name="Down Arrow 3"/>
          <p:cNvSpPr/>
          <p:nvPr/>
        </p:nvSpPr>
        <p:spPr>
          <a:xfrm>
            <a:off x="2446019" y="2419643"/>
            <a:ext cx="215118" cy="22830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2444067" y="3338048"/>
            <a:ext cx="215118" cy="22830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2446605" y="4344572"/>
            <a:ext cx="215118" cy="22830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2451686" y="5281930"/>
            <a:ext cx="215118" cy="22830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5627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A86B39-B0E1-454B-8BD5-883D5E790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9" y="752168"/>
            <a:ext cx="10515600" cy="876821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MACHINE LEARNING PIPELINE</a:t>
            </a:r>
            <a:endParaRPr lang="en-IN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10CB36-C249-4F60-912D-14A3B04A1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9780" y="2024098"/>
            <a:ext cx="8246097" cy="3805202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Data </a:t>
            </a:r>
            <a:r>
              <a:rPr lang="en-US" sz="3200" dirty="0" smtClean="0"/>
              <a:t>Collection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Data Preprocessing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Feature </a:t>
            </a:r>
            <a:r>
              <a:rPr lang="en-US" sz="3200" dirty="0" smtClean="0"/>
              <a:t>Extraction (</a:t>
            </a:r>
            <a:r>
              <a:rPr lang="en-US" sz="3200" dirty="0" smtClean="0"/>
              <a:t>TF-IDF)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Model Training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Model </a:t>
            </a:r>
            <a:r>
              <a:rPr lang="en-US" sz="3200" dirty="0" smtClean="0"/>
              <a:t>Prediction</a:t>
            </a: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09865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D689E4-CE01-4AA4-B0F6-558165C72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190" y="1543050"/>
            <a:ext cx="10655710" cy="30861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Lowercase </a:t>
            </a:r>
            <a:r>
              <a:rPr lang="en-US" sz="3200" dirty="0" smtClean="0"/>
              <a:t>text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Remove URLs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Remove </a:t>
            </a:r>
            <a:r>
              <a:rPr lang="en-US" sz="3200" dirty="0" smtClean="0"/>
              <a:t>@</a:t>
            </a:r>
            <a:r>
              <a:rPr lang="en-US" sz="3200" dirty="0" smtClean="0"/>
              <a:t>mentions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Remove </a:t>
            </a:r>
            <a:r>
              <a:rPr lang="en-US" sz="3200" dirty="0" smtClean="0"/>
              <a:t>punctuation</a:t>
            </a: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B8FE739-603C-59B8-FC25-B12BF7E47342}"/>
              </a:ext>
            </a:extLst>
          </p:cNvPr>
          <p:cNvSpPr txBox="1"/>
          <p:nvPr/>
        </p:nvSpPr>
        <p:spPr>
          <a:xfrm>
            <a:off x="983840" y="531852"/>
            <a:ext cx="9005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/>
              <a:t>PREPROCESSING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xmlns="" val="1593123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FE83B0-9C25-BE33-4C57-085A2E29D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600" y="517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CONFUSION MATRIX</a:t>
            </a:r>
            <a:endParaRPr lang="en-US" sz="4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EC78023-F106-50B9-7B86-9F645466EE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1450" y="1747602"/>
            <a:ext cx="6385700" cy="421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 smtClean="0"/>
              <a:t>Shows </a:t>
            </a:r>
            <a:r>
              <a:rPr lang="en-US" sz="3200" dirty="0" smtClean="0"/>
              <a:t>prediction results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TP </a:t>
            </a:r>
            <a:r>
              <a:rPr lang="en-US" sz="3200" dirty="0" smtClean="0"/>
              <a:t>→ Correct </a:t>
            </a:r>
            <a:r>
              <a:rPr lang="en-US" sz="3200" dirty="0" smtClean="0"/>
              <a:t>disaster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TN </a:t>
            </a:r>
            <a:r>
              <a:rPr lang="en-US" sz="3200" dirty="0" smtClean="0"/>
              <a:t>→ Correct </a:t>
            </a:r>
            <a:r>
              <a:rPr lang="en-US" sz="3200" dirty="0" smtClean="0"/>
              <a:t>non-disaster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FP </a:t>
            </a:r>
            <a:r>
              <a:rPr lang="en-US" sz="3200" dirty="0" smtClean="0"/>
              <a:t>→ False </a:t>
            </a:r>
            <a:r>
              <a:rPr lang="en-US" sz="3200" dirty="0" smtClean="0"/>
              <a:t>alarm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FN </a:t>
            </a:r>
            <a:r>
              <a:rPr lang="en-US" sz="3200" dirty="0" smtClean="0"/>
              <a:t>→ Missed disaster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2056592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242988-3A2D-E09A-4DD3-68F986AFA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/>
              <a:t>ROC CURVE</a:t>
            </a:r>
            <a:endParaRPr lang="en-US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123BA5-600A-9990-4384-2885F27EB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950" y="1558925"/>
            <a:ext cx="10233800" cy="455612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US" sz="3200" dirty="0" smtClean="0"/>
              <a:t> </a:t>
            </a:r>
            <a:r>
              <a:rPr lang="en-US" sz="3200" dirty="0" smtClean="0"/>
              <a:t>Used to check model </a:t>
            </a:r>
            <a:r>
              <a:rPr lang="en-US" sz="3200" dirty="0" smtClean="0"/>
              <a:t>performance</a:t>
            </a:r>
          </a:p>
          <a:p>
            <a:pPr>
              <a:lnSpc>
                <a:spcPct val="160000"/>
              </a:lnSpc>
            </a:pPr>
            <a:r>
              <a:rPr lang="en-US" sz="3200" dirty="0" smtClean="0"/>
              <a:t> </a:t>
            </a:r>
            <a:r>
              <a:rPr lang="en-US" sz="3200" dirty="0" smtClean="0"/>
              <a:t>X-axis → False Positive </a:t>
            </a:r>
            <a:r>
              <a:rPr lang="en-US" sz="3200" dirty="0" smtClean="0"/>
              <a:t>Rate</a:t>
            </a:r>
          </a:p>
          <a:p>
            <a:pPr>
              <a:lnSpc>
                <a:spcPct val="160000"/>
              </a:lnSpc>
            </a:pPr>
            <a:r>
              <a:rPr lang="en-US" sz="3200" dirty="0" smtClean="0"/>
              <a:t>Y-axis </a:t>
            </a:r>
            <a:r>
              <a:rPr lang="en-US" sz="3200" dirty="0" smtClean="0"/>
              <a:t>→ True Positive </a:t>
            </a:r>
            <a:r>
              <a:rPr lang="en-US" sz="3200" dirty="0" smtClean="0"/>
              <a:t>Rate</a:t>
            </a:r>
          </a:p>
          <a:p>
            <a:pPr>
              <a:lnSpc>
                <a:spcPct val="160000"/>
              </a:lnSpc>
            </a:pPr>
            <a:r>
              <a:rPr lang="en-US" sz="3200" dirty="0" smtClean="0"/>
              <a:t>AUC</a:t>
            </a:r>
            <a:r>
              <a:rPr lang="en-US" sz="3200" dirty="0" smtClean="0"/>
              <a:t>:</a:t>
            </a:r>
            <a:br>
              <a:rPr lang="en-US" sz="3200" dirty="0" smtClean="0"/>
            </a:br>
            <a:r>
              <a:rPr lang="en-US" sz="3200" dirty="0" smtClean="0"/>
              <a:t>    Close </a:t>
            </a:r>
            <a:r>
              <a:rPr lang="en-US" sz="3200" dirty="0" smtClean="0"/>
              <a:t>to 1 = Good</a:t>
            </a:r>
            <a:br>
              <a:rPr lang="en-US" sz="3200" dirty="0" smtClean="0"/>
            </a:br>
            <a:r>
              <a:rPr lang="en-US" sz="3200" dirty="0" smtClean="0"/>
              <a:t>    Close </a:t>
            </a:r>
            <a:r>
              <a:rPr lang="en-US" sz="3200" dirty="0" smtClean="0"/>
              <a:t>to 0.5 = Poor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871083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3270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USED </a:t>
            </a:r>
            <a:r>
              <a:rPr lang="en-US" sz="4800" b="1" dirty="0" smtClean="0"/>
              <a:t>CODES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2400" y="1520825"/>
            <a:ext cx="9871850" cy="47466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1" dirty="0" smtClean="0"/>
              <a:t>IMPORTS 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import </a:t>
            </a:r>
            <a:r>
              <a:rPr lang="en-US" sz="3200" dirty="0" err="1" smtClean="0"/>
              <a:t>streamlit</a:t>
            </a:r>
            <a:r>
              <a:rPr lang="en-US" sz="3200" dirty="0" smtClean="0"/>
              <a:t> as </a:t>
            </a:r>
            <a:r>
              <a:rPr lang="en-US" sz="3200" dirty="0" err="1" smtClean="0"/>
              <a:t>st</a:t>
            </a:r>
            <a:endParaRPr lang="en-US" sz="3200" dirty="0" smtClean="0"/>
          </a:p>
          <a:p>
            <a:pPr>
              <a:lnSpc>
                <a:spcPct val="100000"/>
              </a:lnSpc>
            </a:pPr>
            <a:r>
              <a:rPr lang="en-US" sz="3200" dirty="0" smtClean="0"/>
              <a:t>import pickle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import re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import </a:t>
            </a:r>
            <a:r>
              <a:rPr lang="en-US" sz="3200" dirty="0" smtClean="0"/>
              <a:t>string</a:t>
            </a:r>
          </a:p>
          <a:p>
            <a:pPr>
              <a:lnSpc>
                <a:spcPct val="100000"/>
              </a:lnSpc>
              <a:buNone/>
            </a:pPr>
            <a:r>
              <a:rPr lang="en-US" sz="3200" b="1" dirty="0" smtClean="0"/>
              <a:t>LOAD MODEL</a:t>
            </a:r>
            <a:endParaRPr lang="en-US" sz="3200" dirty="0" smtClean="0"/>
          </a:p>
          <a:p>
            <a:pPr>
              <a:lnSpc>
                <a:spcPct val="100000"/>
              </a:lnSpc>
            </a:pPr>
            <a:r>
              <a:rPr lang="en-US" sz="3200" dirty="0" smtClean="0"/>
              <a:t>model = </a:t>
            </a:r>
            <a:r>
              <a:rPr lang="en-US" sz="3200" dirty="0" err="1" smtClean="0"/>
              <a:t>pickle.load</a:t>
            </a:r>
            <a:r>
              <a:rPr lang="en-US" sz="3200" dirty="0" smtClean="0"/>
              <a:t>(open('</a:t>
            </a:r>
            <a:r>
              <a:rPr lang="en-US" sz="3200" dirty="0" err="1" smtClean="0"/>
              <a:t>disaster_model.pkl','rb</a:t>
            </a:r>
            <a:r>
              <a:rPr lang="en-US" sz="3200" dirty="0" smtClean="0"/>
              <a:t>'))</a:t>
            </a:r>
          </a:p>
          <a:p>
            <a:pPr>
              <a:lnSpc>
                <a:spcPct val="100000"/>
              </a:lnSpc>
            </a:pPr>
            <a:r>
              <a:rPr lang="en-US" sz="3200" dirty="0" err="1" smtClean="0"/>
              <a:t>vectorizer</a:t>
            </a:r>
            <a:r>
              <a:rPr lang="en-US" sz="3200" dirty="0" smtClean="0"/>
              <a:t> = </a:t>
            </a:r>
            <a:r>
              <a:rPr lang="en-US" sz="3200" dirty="0" err="1" smtClean="0"/>
              <a:t>pickle.load</a:t>
            </a:r>
            <a:r>
              <a:rPr lang="en-US" sz="3200" dirty="0" smtClean="0"/>
              <a:t>(open('</a:t>
            </a:r>
            <a:r>
              <a:rPr lang="en-US" sz="3200" dirty="0" err="1" smtClean="0"/>
              <a:t>tfidf_vectorizer.pkl','rb</a:t>
            </a:r>
            <a:r>
              <a:rPr lang="en-US" sz="3200" dirty="0" smtClean="0"/>
              <a:t>'))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0" y="476250"/>
            <a:ext cx="11029950" cy="584835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3800" b="1" dirty="0" smtClean="0"/>
              <a:t>CLEAN </a:t>
            </a:r>
            <a:r>
              <a:rPr lang="en-US" sz="3800" b="1" dirty="0" smtClean="0"/>
              <a:t>FUNCTION</a:t>
            </a:r>
          </a:p>
          <a:p>
            <a:pPr>
              <a:lnSpc>
                <a:spcPct val="110000"/>
              </a:lnSpc>
              <a:buNone/>
            </a:pPr>
            <a:r>
              <a:rPr lang="en-US" sz="3300" dirty="0" smtClean="0"/>
              <a:t>    def </a:t>
            </a:r>
            <a:r>
              <a:rPr lang="en-US" sz="3300" dirty="0" err="1" smtClean="0"/>
              <a:t>clean_text</a:t>
            </a:r>
            <a:r>
              <a:rPr lang="en-US" sz="3300" dirty="0" smtClean="0"/>
              <a:t>(text):</a:t>
            </a:r>
          </a:p>
          <a:p>
            <a:pPr>
              <a:lnSpc>
                <a:spcPct val="110000"/>
              </a:lnSpc>
              <a:buNone/>
            </a:pPr>
            <a:r>
              <a:rPr lang="en-US" sz="3300" dirty="0" smtClean="0"/>
              <a:t>  </a:t>
            </a:r>
            <a:r>
              <a:rPr lang="en-US" sz="3300" dirty="0" smtClean="0"/>
              <a:t>      </a:t>
            </a:r>
            <a:r>
              <a:rPr lang="en-US" sz="3300" dirty="0" smtClean="0"/>
              <a:t>text = </a:t>
            </a:r>
            <a:r>
              <a:rPr lang="en-US" sz="3300" dirty="0" err="1" smtClean="0"/>
              <a:t>text.lower</a:t>
            </a:r>
            <a:r>
              <a:rPr lang="en-US" sz="3300" dirty="0" smtClean="0"/>
              <a:t>()</a:t>
            </a:r>
          </a:p>
          <a:p>
            <a:pPr>
              <a:lnSpc>
                <a:spcPct val="110000"/>
              </a:lnSpc>
              <a:buNone/>
            </a:pPr>
            <a:r>
              <a:rPr lang="en-US" sz="3300" dirty="0" smtClean="0"/>
              <a:t>  </a:t>
            </a:r>
            <a:r>
              <a:rPr lang="en-US" sz="3300" dirty="0" smtClean="0"/>
              <a:t>      </a:t>
            </a:r>
            <a:r>
              <a:rPr lang="en-US" sz="3300" dirty="0" smtClean="0"/>
              <a:t>text = re.sub(</a:t>
            </a:r>
            <a:r>
              <a:rPr lang="en-US" sz="3300" dirty="0" err="1" smtClean="0"/>
              <a:t>r"http</a:t>
            </a:r>
            <a:r>
              <a:rPr lang="en-US" sz="3300" dirty="0" smtClean="0"/>
              <a:t>\S+", "", text)</a:t>
            </a:r>
          </a:p>
          <a:p>
            <a:pPr>
              <a:lnSpc>
                <a:spcPct val="110000"/>
              </a:lnSpc>
              <a:buNone/>
            </a:pPr>
            <a:r>
              <a:rPr lang="en-US" sz="3300" dirty="0" smtClean="0"/>
              <a:t>  </a:t>
            </a:r>
            <a:r>
              <a:rPr lang="en-US" sz="3300" dirty="0" smtClean="0"/>
              <a:t>      </a:t>
            </a:r>
            <a:r>
              <a:rPr lang="en-US" sz="3300" dirty="0" smtClean="0"/>
              <a:t>text = re.sub(r"@\w+", "", text)</a:t>
            </a:r>
          </a:p>
          <a:p>
            <a:pPr>
              <a:lnSpc>
                <a:spcPct val="110000"/>
              </a:lnSpc>
              <a:buNone/>
            </a:pPr>
            <a:r>
              <a:rPr lang="en-US" sz="3300" dirty="0" smtClean="0"/>
              <a:t> </a:t>
            </a:r>
            <a:r>
              <a:rPr lang="en-US" sz="3300" dirty="0" smtClean="0"/>
              <a:t>       </a:t>
            </a:r>
            <a:r>
              <a:rPr lang="en-US" sz="3300" dirty="0" smtClean="0"/>
              <a:t>text = </a:t>
            </a:r>
            <a:r>
              <a:rPr lang="en-US" sz="3300" dirty="0" err="1" smtClean="0"/>
              <a:t>text.translate</a:t>
            </a:r>
            <a:r>
              <a:rPr lang="en-US" sz="3300" dirty="0" smtClean="0"/>
              <a:t>(</a:t>
            </a:r>
            <a:r>
              <a:rPr lang="en-US" sz="3300" dirty="0" err="1" smtClean="0"/>
              <a:t>str.maketrans</a:t>
            </a:r>
            <a:r>
              <a:rPr lang="en-US" sz="3300" dirty="0" smtClean="0"/>
              <a:t>('', '', </a:t>
            </a:r>
            <a:r>
              <a:rPr lang="en-US" sz="3300" dirty="0" err="1" smtClean="0"/>
              <a:t>string.punctuation</a:t>
            </a:r>
            <a:r>
              <a:rPr lang="en-US" sz="3300" dirty="0" smtClean="0"/>
              <a:t>))</a:t>
            </a:r>
          </a:p>
          <a:p>
            <a:pPr>
              <a:lnSpc>
                <a:spcPct val="110000"/>
              </a:lnSpc>
              <a:buNone/>
            </a:pPr>
            <a:r>
              <a:rPr lang="en-US" sz="3300" dirty="0" smtClean="0"/>
              <a:t>   </a:t>
            </a:r>
            <a:r>
              <a:rPr lang="en-US" sz="3300" dirty="0" smtClean="0"/>
              <a:t>     </a:t>
            </a:r>
            <a:r>
              <a:rPr lang="en-US" sz="3300" dirty="0" smtClean="0"/>
              <a:t>return text</a:t>
            </a:r>
          </a:p>
          <a:p>
            <a:pPr>
              <a:lnSpc>
                <a:spcPct val="110000"/>
              </a:lnSpc>
              <a:buNone/>
            </a:pPr>
            <a:endParaRPr lang="en-US" sz="3200" b="1" dirty="0" smtClean="0"/>
          </a:p>
          <a:p>
            <a:pPr>
              <a:lnSpc>
                <a:spcPct val="110000"/>
              </a:lnSpc>
              <a:buNone/>
            </a:pPr>
            <a:r>
              <a:rPr lang="en-US" sz="3800" b="1" dirty="0" smtClean="0"/>
              <a:t>INPUT</a:t>
            </a:r>
          </a:p>
          <a:p>
            <a:pPr>
              <a:lnSpc>
                <a:spcPct val="110000"/>
              </a:lnSpc>
              <a:buNone/>
            </a:pPr>
            <a:r>
              <a:rPr lang="en-US" sz="3200" b="1" dirty="0" smtClean="0"/>
              <a:t>       </a:t>
            </a:r>
            <a:r>
              <a:rPr lang="en-US" sz="3300" dirty="0" err="1" smtClean="0"/>
              <a:t>st.title</a:t>
            </a:r>
            <a:r>
              <a:rPr lang="en-US" sz="3300" dirty="0" smtClean="0"/>
              <a:t>("Disaster Tweet Classifier")</a:t>
            </a:r>
          </a:p>
          <a:p>
            <a:pPr>
              <a:lnSpc>
                <a:spcPct val="110000"/>
              </a:lnSpc>
              <a:buNone/>
            </a:pPr>
            <a:r>
              <a:rPr lang="en-US" sz="3300" dirty="0" smtClean="0"/>
              <a:t>       tweet = </a:t>
            </a:r>
            <a:r>
              <a:rPr lang="en-US" sz="3300" dirty="0" err="1" smtClean="0"/>
              <a:t>st.text_area</a:t>
            </a:r>
            <a:r>
              <a:rPr lang="en-US" sz="3300" dirty="0" smtClean="0"/>
              <a:t>("Enter a Tweet")</a:t>
            </a:r>
            <a:endParaRPr lang="en-US" sz="3300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647700"/>
            <a:ext cx="10233800" cy="59055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4100" b="1" dirty="0" smtClean="0"/>
              <a:t>PREDICTION</a:t>
            </a:r>
          </a:p>
          <a:p>
            <a:pPr>
              <a:lnSpc>
                <a:spcPct val="110000"/>
              </a:lnSpc>
              <a:buNone/>
            </a:pPr>
            <a:r>
              <a:rPr lang="en-US" sz="3600" dirty="0" smtClean="0"/>
              <a:t>    if </a:t>
            </a:r>
            <a:r>
              <a:rPr lang="en-US" sz="3600" dirty="0" err="1" smtClean="0"/>
              <a:t>st.button</a:t>
            </a:r>
            <a:r>
              <a:rPr lang="en-US" sz="3600" dirty="0" smtClean="0"/>
              <a:t>("Predict"):</a:t>
            </a:r>
          </a:p>
          <a:p>
            <a:pPr>
              <a:lnSpc>
                <a:spcPct val="110000"/>
              </a:lnSpc>
              <a:buNone/>
            </a:pPr>
            <a:r>
              <a:rPr lang="en-US" sz="3600" dirty="0" smtClean="0"/>
              <a:t>  </a:t>
            </a:r>
            <a:r>
              <a:rPr lang="en-US" sz="3600" dirty="0" smtClean="0"/>
              <a:t>      </a:t>
            </a:r>
            <a:r>
              <a:rPr lang="en-US" sz="3600" dirty="0" smtClean="0"/>
              <a:t>cleaned = </a:t>
            </a:r>
            <a:r>
              <a:rPr lang="en-US" sz="3600" dirty="0" err="1" smtClean="0"/>
              <a:t>clean_text</a:t>
            </a:r>
            <a:r>
              <a:rPr lang="en-US" sz="3600" dirty="0" smtClean="0"/>
              <a:t>(tweet)</a:t>
            </a:r>
          </a:p>
          <a:p>
            <a:pPr>
              <a:lnSpc>
                <a:spcPct val="110000"/>
              </a:lnSpc>
              <a:buNone/>
            </a:pPr>
            <a:r>
              <a:rPr lang="en-US" sz="3600" dirty="0" smtClean="0"/>
              <a:t> </a:t>
            </a:r>
            <a:r>
              <a:rPr lang="en-US" sz="3600" dirty="0" smtClean="0"/>
              <a:t>       </a:t>
            </a:r>
            <a:r>
              <a:rPr lang="en-US" sz="3600" dirty="0" err="1" smtClean="0"/>
              <a:t>vect</a:t>
            </a:r>
            <a:r>
              <a:rPr lang="en-US" sz="3600" dirty="0" smtClean="0"/>
              <a:t> = </a:t>
            </a:r>
            <a:r>
              <a:rPr lang="en-US" sz="3600" dirty="0" err="1" smtClean="0"/>
              <a:t>vectorizer.transform</a:t>
            </a:r>
            <a:r>
              <a:rPr lang="en-US" sz="3600" dirty="0" smtClean="0"/>
              <a:t>([cleaned])</a:t>
            </a:r>
          </a:p>
          <a:p>
            <a:pPr>
              <a:lnSpc>
                <a:spcPct val="110000"/>
              </a:lnSpc>
              <a:buNone/>
            </a:pPr>
            <a:r>
              <a:rPr lang="en-US" sz="3600" dirty="0" smtClean="0"/>
              <a:t>  </a:t>
            </a:r>
            <a:r>
              <a:rPr lang="en-US" sz="3600" dirty="0" smtClean="0"/>
              <a:t>      </a:t>
            </a:r>
            <a:r>
              <a:rPr lang="en-US" sz="3600" dirty="0" smtClean="0"/>
              <a:t>prediction = </a:t>
            </a:r>
            <a:r>
              <a:rPr lang="en-US" sz="3600" dirty="0" err="1" smtClean="0"/>
              <a:t>model.predict</a:t>
            </a:r>
            <a:r>
              <a:rPr lang="en-US" sz="3600" dirty="0" smtClean="0"/>
              <a:t>(</a:t>
            </a:r>
            <a:r>
              <a:rPr lang="en-US" sz="3600" dirty="0" err="1" smtClean="0"/>
              <a:t>vect</a:t>
            </a:r>
            <a:r>
              <a:rPr lang="en-US" sz="3600" dirty="0" smtClean="0"/>
              <a:t>)[0</a:t>
            </a:r>
            <a:r>
              <a:rPr lang="en-US" sz="3600" dirty="0" smtClean="0"/>
              <a:t>]</a:t>
            </a:r>
          </a:p>
          <a:p>
            <a:pPr>
              <a:lnSpc>
                <a:spcPct val="110000"/>
              </a:lnSpc>
              <a:buNone/>
            </a:pPr>
            <a:endParaRPr lang="en-US" sz="3200" dirty="0" smtClean="0"/>
          </a:p>
          <a:p>
            <a:pPr>
              <a:lnSpc>
                <a:spcPct val="110000"/>
              </a:lnSpc>
              <a:buNone/>
            </a:pPr>
            <a:r>
              <a:rPr lang="en-US" sz="4100" b="1" dirty="0" smtClean="0"/>
              <a:t>OUTPUT</a:t>
            </a:r>
          </a:p>
          <a:p>
            <a:pPr>
              <a:lnSpc>
                <a:spcPct val="110000"/>
              </a:lnSpc>
              <a:buNone/>
            </a:pPr>
            <a:r>
              <a:rPr lang="en-US" sz="3600" dirty="0" smtClean="0"/>
              <a:t>    if </a:t>
            </a:r>
            <a:r>
              <a:rPr lang="en-US" sz="3600" dirty="0" smtClean="0"/>
              <a:t>prediction == 1:</a:t>
            </a:r>
          </a:p>
          <a:p>
            <a:pPr>
              <a:lnSpc>
                <a:spcPct val="110000"/>
              </a:lnSpc>
              <a:buNone/>
            </a:pPr>
            <a:r>
              <a:rPr lang="en-US" sz="3600" dirty="0" smtClean="0"/>
              <a:t>  </a:t>
            </a:r>
            <a:r>
              <a:rPr lang="en-US" sz="3600" dirty="0" smtClean="0"/>
              <a:t>      </a:t>
            </a:r>
            <a:r>
              <a:rPr lang="en-US" sz="3600" dirty="0" err="1" smtClean="0"/>
              <a:t>st.error</a:t>
            </a:r>
            <a:r>
              <a:rPr lang="en-US" sz="3600" dirty="0" smtClean="0"/>
              <a:t>("Disaster Tweet")</a:t>
            </a:r>
          </a:p>
          <a:p>
            <a:pPr>
              <a:lnSpc>
                <a:spcPct val="110000"/>
              </a:lnSpc>
              <a:buNone/>
            </a:pPr>
            <a:r>
              <a:rPr lang="en-US" sz="3600" dirty="0" smtClean="0"/>
              <a:t>    else</a:t>
            </a:r>
            <a:r>
              <a:rPr lang="en-US" sz="3600" dirty="0" smtClean="0"/>
              <a:t>:</a:t>
            </a:r>
          </a:p>
          <a:p>
            <a:pPr>
              <a:lnSpc>
                <a:spcPct val="110000"/>
              </a:lnSpc>
              <a:buNone/>
            </a:pPr>
            <a:r>
              <a:rPr lang="en-US" sz="3600" dirty="0" smtClean="0"/>
              <a:t>  </a:t>
            </a:r>
            <a:r>
              <a:rPr lang="en-US" sz="3600" dirty="0" smtClean="0"/>
              <a:t>      </a:t>
            </a:r>
            <a:r>
              <a:rPr lang="en-US" sz="3600" dirty="0" err="1" smtClean="0"/>
              <a:t>st.success</a:t>
            </a:r>
            <a:r>
              <a:rPr lang="en-US" sz="3600" dirty="0" smtClean="0"/>
              <a:t>("Not a Disaster")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7B0195-4AC5-495E-4A61-3B6AA4E3E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0" y="31273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RESULTS</a:t>
            </a:r>
            <a:endParaRPr lang="en-US" sz="4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00F9135-E4F9-3928-DFFB-DE06AA4AAA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8600" y="4271308"/>
            <a:ext cx="428393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Fast prediction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Easy </a:t>
            </a:r>
            <a:r>
              <a:rPr lang="en-US" sz="3200" dirty="0" smtClean="0"/>
              <a:t>to </a:t>
            </a:r>
            <a:r>
              <a:rPr lang="en-US" sz="3200" dirty="0" smtClean="0"/>
              <a:t>use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Accurate </a:t>
            </a:r>
            <a:r>
              <a:rPr lang="en-US" sz="3200" dirty="0" smtClean="0"/>
              <a:t>classification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9A7B0195-4AC5-495E-4A61-3B6AA4E3EBFD}"/>
              </a:ext>
            </a:extLst>
          </p:cNvPr>
          <p:cNvSpPr txBox="1">
            <a:spLocks/>
          </p:cNvSpPr>
          <p:nvPr/>
        </p:nvSpPr>
        <p:spPr>
          <a:xfrm>
            <a:off x="929500" y="612775"/>
            <a:ext cx="5166500" cy="7969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</a:pPr>
            <a:r>
              <a:rPr lang="en-US" sz="4800" b="1" dirty="0" smtClean="0"/>
              <a:t>LIMITATIONS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28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4800000" scaled="0"/>
                <a:tileRect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33500" y="1614784"/>
            <a:ext cx="6096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dirty="0" smtClean="0"/>
              <a:t>Cannot detect </a:t>
            </a:r>
            <a:r>
              <a:rPr lang="en-US" sz="3200" dirty="0" smtClean="0"/>
              <a:t>sarcasm</a:t>
            </a:r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Depends </a:t>
            </a:r>
            <a:r>
              <a:rPr lang="en-US" sz="3200" dirty="0" smtClean="0"/>
              <a:t>on data </a:t>
            </a:r>
            <a:r>
              <a:rPr lang="en-US" sz="3200" dirty="0" smtClean="0"/>
              <a:t>quality</a:t>
            </a:r>
          </a:p>
          <a:p>
            <a:pPr>
              <a:buFont typeface="Wingdings" pitchFamily="2" charset="2"/>
              <a:buChar char="Ø"/>
            </a:pPr>
            <a:r>
              <a:rPr lang="en-US" sz="3200" dirty="0" smtClean="0"/>
              <a:t>Only </a:t>
            </a:r>
            <a:r>
              <a:rPr lang="en-US" sz="3200" dirty="0" smtClean="0"/>
              <a:t>English supported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2331049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B63F7B-BF27-CC7F-AE39-13FE7C9F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900" y="444758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CONCLUSION</a:t>
            </a:r>
            <a:endParaRPr lang="en-US" sz="4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02F9C1C3-5A7D-790B-4A96-61D6DD9B4A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1950" y="1834565"/>
            <a:ext cx="73001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Automatic tweet </a:t>
            </a:r>
            <a:r>
              <a:rPr lang="en-US" sz="3200" dirty="0" smtClean="0"/>
              <a:t>classification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Useful </a:t>
            </a:r>
            <a:r>
              <a:rPr lang="en-US" sz="3200" dirty="0" smtClean="0"/>
              <a:t>for disaster </a:t>
            </a:r>
            <a:r>
              <a:rPr lang="en-US" sz="3200" dirty="0" smtClean="0"/>
              <a:t>management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Saves </a:t>
            </a:r>
            <a:r>
              <a:rPr lang="en-US" sz="3200" dirty="0" smtClean="0"/>
              <a:t>time and </a:t>
            </a:r>
            <a:r>
              <a:rPr lang="en-US" sz="3200" dirty="0" smtClean="0"/>
              <a:t>effort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sz="3200" dirty="0" smtClean="0"/>
              <a:t>Real-world application of ML &amp; NLP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78690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CA231D-11D4-4D76-9485-B9E452C1E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1" y="2747168"/>
            <a:ext cx="4267199" cy="1325563"/>
          </a:xfrm>
        </p:spPr>
        <p:txBody>
          <a:bodyPr>
            <a:noAutofit/>
          </a:bodyPr>
          <a:lstStyle/>
          <a:p>
            <a:pPr algn="ctr"/>
            <a:r>
              <a:rPr lang="en-IN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2455331150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2180</TotalTime>
  <Words>398</Words>
  <Application>Microsoft Office PowerPoint</Application>
  <PresentationFormat>Custom</PresentationFormat>
  <Paragraphs>107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Depth</vt:lpstr>
      <vt:lpstr>Slide 1</vt:lpstr>
      <vt:lpstr>INTRODUCTION</vt:lpstr>
      <vt:lpstr>PROBLEM STATEMENT</vt:lpstr>
      <vt:lpstr>OBJECTIVES</vt:lpstr>
      <vt:lpstr>Technologies Used</vt:lpstr>
      <vt:lpstr>Application Flowchart</vt:lpstr>
      <vt:lpstr>MACHINE LEARNING PIPELINE</vt:lpstr>
      <vt:lpstr>Slide 8</vt:lpstr>
      <vt:lpstr>CONFUSION MATRIX</vt:lpstr>
      <vt:lpstr>ROC CURVE</vt:lpstr>
      <vt:lpstr>USED CODES</vt:lpstr>
      <vt:lpstr>Slide 12</vt:lpstr>
      <vt:lpstr>Slide 13</vt:lpstr>
      <vt:lpstr>RESULTS</vt:lpstr>
      <vt:lpstr>CONCLUSION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PAWAR</dc:creator>
  <cp:lastModifiedBy>Windows User</cp:lastModifiedBy>
  <cp:revision>24</cp:revision>
  <dcterms:created xsi:type="dcterms:W3CDTF">2022-03-28T03:07:45Z</dcterms:created>
  <dcterms:modified xsi:type="dcterms:W3CDTF">2026-03-18T14:07:10Z</dcterms:modified>
</cp:coreProperties>
</file>